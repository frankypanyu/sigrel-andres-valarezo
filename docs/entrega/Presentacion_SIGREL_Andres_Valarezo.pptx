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9692640" cy="10515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5500" b="1">
                <a:solidFill>
                  <a:srgbClr val="FFFFFF"/>
                </a:solidFill>
                <a:latin typeface="Aptos"/>
              </a:rPr>
              <a:t>SIGREL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1463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70EBE5"/>
                </a:solidFill>
                <a:latin typeface="Aptos"/>
              </a:rPr>
              <a:t>Sistema Inteligente de Gestión</a:t>
            </a:r>
          </a:p>
          <a:p>
            <a:pPr>
              <a:spcAft>
                <a:spcPts val="500"/>
              </a:spcAft>
            </a:pPr>
            <a:r>
              <a:rPr sz="3100" b="1">
                <a:solidFill>
                  <a:srgbClr val="70EBE5"/>
                </a:solidFill>
                <a:latin typeface="Aptos"/>
              </a:rPr>
              <a:t>de Reparaciones de Laptops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9966960" cy="79552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D2E3E7"/>
                </a:solidFill>
                <a:latin typeface="Aptos"/>
              </a:rPr>
              <a:t>Progreso 1 · Análisis, diseño y selección de la solución
18 de octubre de 2026  |  Ing. Paulo Guerra T.
Autor: Andrés Valarezo · Proyecto individual</a:t>
            </a:r>
          </a:p>
          <a:p>
            <a:pPr>
              <a:spcAft>
                <a:spcPts val="500"/>
              </a:spcAft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01 · Problema que buscamos resolver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80744"/>
            <a:ext cx="1088136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6F7D8A"/>
                </a:solidFill>
                <a:latin typeface="Aptos"/>
              </a:rPr>
              <a:t>Escenario de taller pequeño: hipótesis de diseño, no caso auditado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847088"/>
            <a:ext cx="10561320" cy="1042415"/>
          </a:xfrm>
          <a:prstGeom prst="roundRect">
            <a:avLst/>
          </a:prstGeom>
          <a:solidFill>
            <a:srgbClr val="E7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47672"/>
            <a:ext cx="3291840" cy="4023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Registro disperso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965960"/>
            <a:ext cx="6995160" cy="56692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28323D"/>
                </a:solidFill>
                <a:latin typeface="Aptos"/>
              </a:rPr>
              <a:t>Datos y órdenes difíciles de consultar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191256"/>
            <a:ext cx="10561320" cy="1042415"/>
          </a:xfrm>
          <a:prstGeom prst="roundRect">
            <a:avLst/>
          </a:prstGeom>
          <a:solidFill>
            <a:srgbClr val="E7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3291840" cy="4023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Priorización informal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310128"/>
            <a:ext cx="6995160" cy="56692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28323D"/>
                </a:solidFill>
                <a:latin typeface="Aptos"/>
              </a:rPr>
              <a:t>Riesgo de demoras o postergación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535424"/>
            <a:ext cx="10561320" cy="1042415"/>
          </a:xfrm>
          <a:prstGeom prst="roundRect">
            <a:avLst/>
          </a:prstGeom>
          <a:solidFill>
            <a:srgbClr val="E7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36008"/>
            <a:ext cx="3291840" cy="40233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Asignación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654296"/>
            <a:ext cx="6995160" cy="56692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28323D"/>
                </a:solidFill>
                <a:latin typeface="Aptos"/>
              </a:rPr>
              <a:t>Disponibilidad y especialidad no siempre consideradas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02 · Actores, datos y restricciones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865376"/>
            <a:ext cx="10607040" cy="1078992"/>
          </a:xfrm>
          <a:prstGeom prst="roundRect">
            <a:avLst/>
          </a:prstGeom>
          <a:solidFill>
            <a:srgbClr val="ED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56816"/>
            <a:ext cx="2834640" cy="4297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200" b="1">
                <a:solidFill>
                  <a:srgbClr val="0C2336"/>
                </a:solidFill>
                <a:latin typeface="Aptos"/>
              </a:rPr>
              <a:t>Actores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56816"/>
            <a:ext cx="726948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8323D"/>
                </a:solidFill>
                <a:latin typeface="Aptos"/>
              </a:rPr>
              <a:t>Cliente · Recepcionista · Técnico · Administrador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218688"/>
            <a:ext cx="10607040" cy="1078992"/>
          </a:xfrm>
          <a:prstGeom prst="roundRect">
            <a:avLst/>
          </a:prstGeom>
          <a:solidFill>
            <a:srgbClr val="ED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2834640" cy="4297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200" b="1">
                <a:solidFill>
                  <a:srgbClr val="0C2336"/>
                </a:solidFill>
                <a:latin typeface="Aptos"/>
              </a:rPr>
              <a:t>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310128"/>
            <a:ext cx="726948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8323D"/>
                </a:solidFill>
                <a:latin typeface="Aptos"/>
              </a:rPr>
              <a:t>Laptop, orden, fecha, urgencia, diagnóstico, estado, técnico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572000"/>
            <a:ext cx="10607040" cy="1078992"/>
          </a:xfrm>
          <a:prstGeom prst="roundRect">
            <a:avLst/>
          </a:prstGeom>
          <a:solidFill>
            <a:srgbClr val="ED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2834640" cy="4297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200" b="1">
                <a:solidFill>
                  <a:srgbClr val="0C2336"/>
                </a:solidFill>
                <a:latin typeface="Aptos"/>
              </a:rPr>
              <a:t>Restricciones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663440"/>
            <a:ext cx="726948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8323D"/>
                </a:solidFill>
                <a:latin typeface="Aptos"/>
              </a:rPr>
              <a:t>Java · Prototipo local · Datos ficticios · Sin facturación ni pagos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03 · Cinco módulos y operaciones esenciales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691640"/>
            <a:ext cx="10789920" cy="722376"/>
          </a:xfrm>
          <a:prstGeom prst="roundRect">
            <a:avLst/>
          </a:prstGeom>
          <a:solidFill>
            <a:srgbClr val="E9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73936"/>
            <a:ext cx="4754880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M1 · Clientes y equipos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01368"/>
            <a:ext cx="5367528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Registrar · Buscar por serie · Filtrar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560320"/>
            <a:ext cx="10789920" cy="722376"/>
          </a:xfrm>
          <a:prstGeom prst="roundRect">
            <a:avLst/>
          </a:prstGeom>
          <a:solidFill>
            <a:srgbClr val="E9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642615"/>
            <a:ext cx="4754880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M2 · Órdenes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670048"/>
            <a:ext cx="5367528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Abrir · Validar duplicados · Clasificar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3429000"/>
            <a:ext cx="10789920" cy="722376"/>
          </a:xfrm>
          <a:prstGeom prst="roundRect">
            <a:avLst/>
          </a:prstGeom>
          <a:solidFill>
            <a:srgbClr val="E9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511296"/>
            <a:ext cx="4754880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M3 · Priorización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538728"/>
            <a:ext cx="5367528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Puntuar · Encolar · Obtener siguiente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" y="4297679"/>
            <a:ext cx="10789920" cy="722376"/>
          </a:xfrm>
          <a:prstGeom prst="roundRect">
            <a:avLst/>
          </a:prstGeom>
          <a:solidFill>
            <a:srgbClr val="E9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379975"/>
            <a:ext cx="4754880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M4 · Técnicos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407407"/>
            <a:ext cx="5367528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Filtrar compatibles · Asignar · Reasignar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5166360"/>
            <a:ext cx="10789920" cy="722376"/>
          </a:xfrm>
          <a:prstGeom prst="roundRect">
            <a:avLst/>
          </a:prstGeom>
          <a:solidFill>
            <a:srgbClr val="E9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248656"/>
            <a:ext cx="4754880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M5 · Seguimiento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5276088"/>
            <a:ext cx="5367528" cy="43891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Diagnóstico · Estados · Historial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04 · Modelo UML preliminar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80744"/>
            <a:ext cx="1088136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6F7D8A"/>
                </a:solidFill>
                <a:latin typeface="Aptos"/>
              </a:rPr>
              <a:t>7 clases de dominio · multiplicidades y composición documentadas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05</a:t>
            </a:r>
          </a:p>
        </p:txBody>
      </p:sp>
      <p:pic>
        <p:nvPicPr>
          <p:cNvPr id="10" name="Picture 9" descr="UML_SIG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874519"/>
            <a:ext cx="1005840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6163056"/>
            <a:ext cx="99669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200"/>
              <a:t>Fuente: modelo_sigrel.puml · Diagrama preliminar editable para revisión del estudiante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05 · Dos alternativas de diseño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09928"/>
            <a:ext cx="5202936" cy="3977639"/>
          </a:xfrm>
          <a:prstGeom prst="roundRect">
            <a:avLst/>
          </a:prstGeom>
          <a:solidFill>
            <a:srgbClr val="EB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09928"/>
            <a:ext cx="5202936" cy="3977639"/>
          </a:xfrm>
          <a:prstGeom prst="roundRect">
            <a:avLst/>
          </a:prstGeom>
          <a:solidFill>
            <a:srgbClr val="DD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1993392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0C2336"/>
                </a:solidFill>
                <a:latin typeface="Aptos"/>
              </a:rPr>
              <a:t>ALTERNATIVA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60904"/>
            <a:ext cx="4526280" cy="11430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28323D"/>
                </a:solidFill>
                <a:latin typeface="Aptos"/>
              </a:rPr>
              <a:t>ArrayList + búsqueda lineal</a:t>
            </a:r>
          </a:p>
          <a:p>
            <a:pPr>
              <a:spcAft>
                <a:spcPts val="500"/>
              </a:spcAft>
            </a:pPr>
            <a:r>
              <a:rPr sz="2100" b="0">
                <a:solidFill>
                  <a:srgbClr val="28323D"/>
                </a:solidFill>
                <a:latin typeface="Aptos"/>
              </a:rPr>
              <a:t>+ ordenamiento de la lista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4160520"/>
            <a:ext cx="4526280" cy="9784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200" b="1">
                <a:solidFill>
                  <a:srgbClr val="009FA0"/>
                </a:solidFill>
                <a:latin typeface="Aptos"/>
              </a:rPr>
              <a:t>Buscar: O(n)</a:t>
            </a:r>
          </a:p>
          <a:p>
            <a:pPr>
              <a:spcAft>
                <a:spcPts val="500"/>
              </a:spcAft>
            </a:pPr>
            <a:r>
              <a:rPr sz="2200" b="1">
                <a:solidFill>
                  <a:srgbClr val="009FA0"/>
                </a:solidFill>
                <a:latin typeface="Aptos"/>
              </a:rPr>
              <a:t>Próximo: O(p log 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993392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0C2336"/>
                </a:solidFill>
                <a:latin typeface="Aptos"/>
              </a:rPr>
              <a:t>ALTERNATIVA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660904"/>
            <a:ext cx="4526280" cy="11430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28323D"/>
                </a:solidFill>
                <a:latin typeface="Aptos"/>
              </a:rPr>
              <a:t>HashMap + PriorityQueue</a:t>
            </a:r>
          </a:p>
          <a:p>
            <a:pPr>
              <a:spcAft>
                <a:spcPts val="500"/>
              </a:spcAft>
            </a:pPr>
            <a:r>
              <a:rPr sz="2100" b="0">
                <a:solidFill>
                  <a:srgbClr val="28323D"/>
                </a:solidFill>
                <a:latin typeface="Aptos"/>
              </a:rPr>
              <a:t>+ ArrayList de eventos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160520"/>
            <a:ext cx="4526280" cy="9784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200" b="1">
                <a:solidFill>
                  <a:srgbClr val="009FA0"/>
                </a:solidFill>
                <a:latin typeface="Aptos"/>
              </a:rPr>
              <a:t>Buscar: O(1) promedio</a:t>
            </a:r>
          </a:p>
          <a:p>
            <a:pPr>
              <a:spcAft>
                <a:spcPts val="500"/>
              </a:spcAft>
            </a:pPr>
            <a:r>
              <a:rPr sz="2200" b="1">
                <a:solidFill>
                  <a:srgbClr val="009FA0"/>
                </a:solidFill>
                <a:latin typeface="Aptos"/>
              </a:rPr>
              <a:t>Extraer: O(log 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06 · Algoritmo y caso de prioridad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73936"/>
            <a:ext cx="1060704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500" b="1">
                <a:solidFill>
                  <a:srgbClr val="0C2336"/>
                </a:solidFill>
                <a:latin typeface="Aptos"/>
              </a:rPr>
              <a:t>Puntaje = 10 × urgencia + 2 × días de espera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2615184"/>
            <a:ext cx="10241280" cy="621792"/>
          </a:xfrm>
          <a:prstGeom prst="roundRect">
            <a:avLst/>
          </a:prstGeom>
          <a:solidFill>
            <a:srgbClr val="E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79191"/>
            <a:ext cx="91440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009FA0"/>
                </a:solidFill>
                <a:latin typeface="Aptos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679191"/>
            <a:ext cx="832104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8323D"/>
                </a:solidFill>
                <a:latin typeface="Aptos"/>
              </a:rPr>
              <a:t>Baja · 12 días →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3374136"/>
            <a:ext cx="10241280" cy="621792"/>
          </a:xfrm>
          <a:prstGeom prst="roundRect">
            <a:avLst/>
          </a:prstGeom>
          <a:solidFill>
            <a:srgbClr val="E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438144"/>
            <a:ext cx="91440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009FA0"/>
                </a:solidFill>
                <a:latin typeface="Aptos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3438144"/>
            <a:ext cx="832104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8323D"/>
                </a:solidFill>
                <a:latin typeface="Aptos"/>
              </a:rPr>
              <a:t>Alta · 2 días → 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4133087"/>
            <a:ext cx="10241280" cy="621792"/>
          </a:xfrm>
          <a:prstGeom prst="roundRect">
            <a:avLst/>
          </a:prstGeom>
          <a:solidFill>
            <a:srgbClr val="E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97096"/>
            <a:ext cx="91440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009FA0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8256" y="4197096"/>
            <a:ext cx="832104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8323D"/>
                </a:solidFill>
                <a:latin typeface="Aptos"/>
              </a:rPr>
              <a:t>Alta · 0 días →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4892040"/>
            <a:ext cx="10241280" cy="621792"/>
          </a:xfrm>
          <a:prstGeom prst="roundRect">
            <a:avLst/>
          </a:prstGeom>
          <a:solidFill>
            <a:srgbClr val="E3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956048"/>
            <a:ext cx="91440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009FA0"/>
                </a:solidFill>
                <a:latin typeface="Aptos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4956048"/>
            <a:ext cx="832104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28323D"/>
                </a:solidFill>
                <a:latin typeface="Aptos"/>
              </a:rPr>
              <a:t>Media · 3 días → 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88152"/>
            <a:ext cx="10424160" cy="4114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6F7D8A"/>
                </a:solidFill>
                <a:latin typeface="Aptos"/>
              </a:rPr>
              <a:t>En empate: primero la orden más antigua, luego el menor 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07 · ¿Por qué se seleccionó la alternativa B?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91640"/>
            <a:ext cx="10652760" cy="859536"/>
          </a:xfrm>
          <a:prstGeom prst="roundRect">
            <a:avLst/>
          </a:prstGeom>
          <a:solidFill>
            <a:srgbClr val="EB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83080"/>
            <a:ext cx="3822191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Consultas rápidas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810512"/>
            <a:ext cx="6208776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Índice HashMap por identificador de orden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724912"/>
            <a:ext cx="10652760" cy="859536"/>
          </a:xfrm>
          <a:prstGeom prst="roundRect">
            <a:avLst/>
          </a:prstGeom>
          <a:solidFill>
            <a:srgbClr val="EB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816352"/>
            <a:ext cx="3822191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Atención por prioridad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843784"/>
            <a:ext cx="6208776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Heap: encolar y extraer en O(log 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758183"/>
            <a:ext cx="10652760" cy="859536"/>
          </a:xfrm>
          <a:prstGeom prst="roundRect">
            <a:avLst/>
          </a:prstGeom>
          <a:solidFill>
            <a:srgbClr val="EB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49623"/>
            <a:ext cx="3822191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Seguridad del orden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877055"/>
            <a:ext cx="6208776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Recalcular y reconstruir cola al cambiar prioridad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791456"/>
            <a:ext cx="10652760" cy="859536"/>
          </a:xfrm>
          <a:prstGeom prst="roundRect">
            <a:avLst/>
          </a:prstGeom>
          <a:solidFill>
            <a:srgbClr val="EB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882896"/>
            <a:ext cx="3822191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C2336"/>
                </a:solidFill>
                <a:latin typeface="Aptos"/>
              </a:rPr>
              <a:t>Costos y límites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4910328"/>
            <a:ext cx="6208776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Más memoria; asignación de técnicos aún requiere O(t)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08 · Plan de Progreso 2 y riesgos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746504"/>
            <a:ext cx="10597896" cy="841248"/>
          </a:xfrm>
          <a:prstGeom prst="round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3200400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0C2336"/>
                </a:solidFill>
                <a:latin typeface="Aptos"/>
              </a:rPr>
              <a:t>Entidades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856231"/>
            <a:ext cx="6912864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Cliente, Equipo, Orden, Técnico, Diagnóstico, Evento, Asignación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770632"/>
            <a:ext cx="10597896" cy="841248"/>
          </a:xfrm>
          <a:prstGeom prst="round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871216"/>
            <a:ext cx="3200400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0C2336"/>
                </a:solidFill>
                <a:latin typeface="Aptos"/>
              </a:rPr>
              <a:t>Estructuras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880360"/>
            <a:ext cx="6912864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HashMap + PriorityQueue con comparador estable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794760"/>
            <a:ext cx="10597896" cy="841248"/>
          </a:xfrm>
          <a:prstGeom prst="round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95344"/>
            <a:ext cx="3200400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0C2336"/>
                </a:solidFill>
                <a:latin typeface="Aptos"/>
              </a:rPr>
              <a:t>Pruebas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904488"/>
            <a:ext cx="6912864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Duplicados · Urgencia · Antigüedad · Capacidad de técnicos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818888"/>
            <a:ext cx="10597896" cy="841248"/>
          </a:xfrm>
          <a:prstGeom prst="roundRect">
            <a:avLst/>
          </a:prstGeom>
          <a:solidFill>
            <a:srgbClr val="EA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919472"/>
            <a:ext cx="3200400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0C2336"/>
                </a:solidFill>
                <a:latin typeface="Aptos"/>
              </a:rPr>
              <a:t>Riesgos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928616"/>
            <a:ext cx="6912864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28323D"/>
                </a:solidFill>
                <a:latin typeface="Aptos"/>
              </a:rPr>
              <a:t>Cola desactualizada, datos duplicados y cambios de estado inválidos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658368" cy="64008"/>
          </a:xfrm>
          <a:prstGeom prst="rect">
            <a:avLst/>
          </a:prstGeom>
          <a:solidFill>
            <a:srgbClr val="009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49224"/>
            <a:ext cx="10881360" cy="6949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3100" b="1">
                <a:solidFill>
                  <a:srgbClr val="0C2336"/>
                </a:solidFill>
                <a:latin typeface="Aptos"/>
              </a:rPr>
              <a:t>09 · Entregables, revisión y 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109960" cy="18288"/>
          </a:xfrm>
          <a:prstGeom prst="rect">
            <a:avLst/>
          </a:prstGeom>
          <a:solidFill>
            <a:srgbClr val="D1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47104"/>
            <a:ext cx="91440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6F7D8A"/>
                </a:solidFill>
                <a:latin typeface="Aptos"/>
              </a:rPr>
              <a:t>SIGREL  ·  PROGRAMACIÓN III  ·  PROGRESO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0292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9FA0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10561320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0C2336"/>
                </a:solidFill>
                <a:latin typeface="Aptos"/>
              </a:rPr>
              <a:t>✓  Informe técnico y referencias APA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10561320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0C2336"/>
                </a:solidFill>
                <a:latin typeface="Aptos"/>
              </a:rPr>
              <a:t>•  Modelo UML editable: PlantUML y Graphviz para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10561320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0C2336"/>
                </a:solidFill>
                <a:latin typeface="Aptos"/>
              </a:rPr>
              <a:t>•  Repositorio GitHub creado: cargar documentos y código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561320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0C2336"/>
                </a:solidFill>
                <a:latin typeface="Aptos"/>
              </a:rPr>
              <a:t>•  Autor y responsable de los cinco módulos: Andrés Valarezo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74336"/>
            <a:ext cx="10561320" cy="5577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0C2336"/>
                </a:solidFill>
                <a:latin typeface="Aptos"/>
              </a:rPr>
              <a:t>•  Defensa individual preparada para 8–10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6035040"/>
            <a:ext cx="10607040" cy="33832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6F7D8A"/>
                </a:solidFill>
                <a:latin typeface="Aptos"/>
              </a:rPr>
              <a:t>Próximo progreso: programación Java, integración y pruebas de los cinco módulos.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